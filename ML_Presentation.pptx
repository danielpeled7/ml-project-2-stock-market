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72" d="100"/>
          <a:sy n="272" d="100"/>
        </p:scale>
        <p:origin x="20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Linear SVM</c:v>
                </c:pt>
                <c:pt idx="1">
                  <c:v>LR (baseline)</c:v>
                </c:pt>
                <c:pt idx="2">
                  <c:v>Random Forest</c:v>
                </c:pt>
                <c:pt idx="3">
                  <c:v>Grad. Boosting</c:v>
                </c:pt>
                <c:pt idx="4">
                  <c:v>KNN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0.89200000000000002</c:v>
                </c:pt>
                <c:pt idx="1">
                  <c:v>0.89100000000000001</c:v>
                </c:pt>
                <c:pt idx="2">
                  <c:v>0.89100000000000001</c:v>
                </c:pt>
                <c:pt idx="3">
                  <c:v>0.88400000000000001</c:v>
                </c:pt>
                <c:pt idx="4">
                  <c:v>0.80700000000000005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55-3B44-9E4D-7B02554CB7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A7C4B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Linear SVM</c:v>
                </c:pt>
                <c:pt idx="1">
                  <c:v>LR (baseline)</c:v>
                </c:pt>
                <c:pt idx="2">
                  <c:v>Random Forest</c:v>
                </c:pt>
                <c:pt idx="3">
                  <c:v>Grad. Boosting</c:v>
                </c:pt>
                <c:pt idx="4">
                  <c:v>KNN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0.47599999999999998</c:v>
                </c:pt>
                <c:pt idx="1">
                  <c:v>0.47299999999999998</c:v>
                </c:pt>
                <c:pt idx="2">
                  <c:v>0.46200000000000002</c:v>
                </c:pt>
                <c:pt idx="3">
                  <c:v>0.434</c:v>
                </c:pt>
                <c:pt idx="4">
                  <c:v>0.33900000000000002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55-3B44-9E4D-7B02554CB7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170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119634"/>
            <a:ext cx="2771031" cy="279202"/>
          </a:xfrm>
          <a:prstGeom prst="roundRect">
            <a:avLst>
              <a:gd name="adj" fmla="val 90974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39701" y="1183035"/>
            <a:ext cx="24639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·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678186"/>
            <a:ext cx="6728895" cy="55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70"/>
              </a:lnSpc>
              <a:spcAft>
                <a:spcPts val="1200"/>
              </a:spcAft>
              <a:buNone/>
            </a:pPr>
            <a:r>
              <a:rPr lang="en-US" sz="3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Stock Price Gains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62000" y="2385566"/>
            <a:ext cx="634901" cy="381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779216"/>
            <a:ext cx="52333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technical indicators predict a 10%+ gain within 30 days?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3556992"/>
            <a:ext cx="120229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577,400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000" y="3880842"/>
            <a:ext cx="12022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Stock-day snapshots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47020" y="3556992"/>
            <a:ext cx="5111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47020" y="3880842"/>
            <a:ext cx="5111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54425" y="3556992"/>
            <a:ext cx="142635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2015–2025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54425" y="3880842"/>
            <a:ext cx="14263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59114" y="3556992"/>
            <a:ext cx="8080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59114" y="3880842"/>
            <a:ext cx="8080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rate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93950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54659"/>
            <a:ext cx="2072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754684"/>
            <a:ext cx="2072589" cy="1005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We're Answering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1000" y="2988766"/>
            <a:ext cx="207258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 problem — yes or no — based on historical technical data.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01901" y="1189434"/>
            <a:ext cx="5334149" cy="1005780"/>
          </a:xfrm>
          <a:prstGeom prst="rect">
            <a:avLst/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330476" y="1189434"/>
            <a:ext cx="0" cy="1005780"/>
          </a:xfrm>
          <a:prstGeom prst="line">
            <a:avLst/>
          </a:prstGeom>
          <a:noFill/>
          <a:ln w="57150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3663851" y="1443335"/>
            <a:ext cx="4760747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technical indicators predict whether a stock will gain 10% or more within the next 30 days?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01901" y="2500015"/>
            <a:ext cx="1642616" cy="1453902"/>
          </a:xfrm>
          <a:prstGeom prst="roundRect">
            <a:avLst>
              <a:gd name="adj" fmla="val 6988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05051" y="2677716"/>
            <a:ext cx="1261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LABEL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05051" y="2887266"/>
            <a:ext cx="1261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gain_10pct_30d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05051" y="3109466"/>
            <a:ext cx="126104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if stock rose ≥10% within 30 days of observation, 0 otherwise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47667" y="2500015"/>
            <a:ext cx="1642616" cy="1453902"/>
          </a:xfrm>
          <a:prstGeom prst="roundRect">
            <a:avLst>
              <a:gd name="adj" fmla="val 6988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0818" y="2677716"/>
            <a:ext cx="1261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BALANCE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50818" y="2887266"/>
            <a:ext cx="1261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 positive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50818" y="3109466"/>
            <a:ext cx="126104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winner per 9 non-winners — strongly imbalanced. Accuracy alone is meaningless here.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93434" y="2500015"/>
            <a:ext cx="1642616" cy="1453902"/>
          </a:xfrm>
          <a:prstGeom prst="roundRect">
            <a:avLst>
              <a:gd name="adj" fmla="val 6988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96584" y="2677716"/>
            <a:ext cx="1261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TYPE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96584" y="2887266"/>
            <a:ext cx="12610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96584" y="3280916"/>
            <a:ext cx="12610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a model that ranks potential winners above non-winners.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0825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26975"/>
            <a:ext cx="3972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0584" y="203150"/>
            <a:ext cx="31291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Working With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828526"/>
            <a:ext cx="1227683" cy="752475"/>
          </a:xfrm>
          <a:prstGeom prst="roundRect">
            <a:avLst>
              <a:gd name="adj" fmla="val 13502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1122" y="980926"/>
            <a:ext cx="94134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577K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1122" y="1314301"/>
            <a:ext cx="9413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62584" y="828526"/>
            <a:ext cx="1227832" cy="752475"/>
          </a:xfrm>
          <a:prstGeom prst="roundRect">
            <a:avLst>
              <a:gd name="adj" fmla="val 13502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05754" y="980926"/>
            <a:ext cx="94149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05754" y="1314301"/>
            <a:ext cx="941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features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17366" y="828526"/>
            <a:ext cx="1227683" cy="752475"/>
          </a:xfrm>
          <a:prstGeom prst="roundRect">
            <a:avLst>
              <a:gd name="adj" fmla="val 13502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60538" y="980926"/>
            <a:ext cx="94134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60538" y="1314301"/>
            <a:ext cx="9413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selection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7950" y="1707952"/>
            <a:ext cx="3937099" cy="755452"/>
          </a:xfrm>
          <a:prstGeom prst="roundRect">
            <a:avLst>
              <a:gd name="adj" fmla="val 13449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651" y="1834902"/>
            <a:ext cx="36533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651" y="2031653"/>
            <a:ext cx="36533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gain_10pct_30d</a:t>
            </a: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 if the stock's close price rose ≥10% from the signal day's close within the next 30 calendar days, else 0.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2590354"/>
            <a:ext cx="3937099" cy="793552"/>
          </a:xfrm>
          <a:prstGeom prst="roundRect">
            <a:avLst>
              <a:gd name="adj" fmla="val 12803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651" y="2717304"/>
            <a:ext cx="36533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RANGE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651" y="2914055"/>
            <a:ext cx="36533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2015–2025 · snapshots only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651" y="3085505"/>
            <a:ext cx="36533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2015→2022 · Val: 2023 · Test: 2024–2025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950" y="3510855"/>
            <a:ext cx="3937099" cy="682972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31763" y="3510855"/>
            <a:ext cx="0" cy="682972"/>
          </a:xfrm>
          <a:prstGeom prst="line">
            <a:avLst/>
          </a:prstGeom>
          <a:noFill/>
          <a:ln w="476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07975" y="3612356"/>
            <a:ext cx="365636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B3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= one stock on one day, filter if under $5K price, 500K+ daily volume. Note: stocks delisted or acquired during the 30-day window may understate the true win rate.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8950" y="1257895"/>
            <a:ext cx="4015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DISTRIBUTION — CLASS IMBALANCE</a:t>
            </a:r>
            <a:endParaRPr lang="en-US" sz="850" dirty="0"/>
          </a:p>
        </p:txBody>
      </p:sp>
      <p:pic>
        <p:nvPicPr>
          <p:cNvPr id="25" name="Image 0" descr="/Users/idaniel/Downloads/kairognos_ml_output/01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950" y="1524446"/>
            <a:ext cx="3936950" cy="238750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698950" y="4013448"/>
            <a:ext cx="3937099" cy="522982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22763" y="4013448"/>
            <a:ext cx="0" cy="522982"/>
          </a:xfrm>
          <a:prstGeom prst="line">
            <a:avLst/>
          </a:prstGeom>
          <a:noFill/>
          <a:ln w="476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5"/>
          <p:cNvSpPr/>
          <p:nvPr/>
        </p:nvSpPr>
        <p:spPr>
          <a:xfrm>
            <a:off x="4898975" y="4114949"/>
            <a:ext cx="365636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B3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~515K non-winners vs ~63K winners = </a:t>
            </a:r>
            <a:r>
              <a:rPr lang="en-US" sz="900" b="1" dirty="0">
                <a:solidFill>
                  <a:srgbClr val="6B3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 positive rate.</a:t>
            </a:r>
            <a:r>
              <a:rPr lang="en-US" sz="900" dirty="0">
                <a:solidFill>
                  <a:srgbClr val="6B3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Heavily imbalanced — standard accuracy is meaningless here.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7326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79350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46345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4-Stage Pipeline — From Raw to ML-Ready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266676"/>
            <a:ext cx="1879550" cy="3597473"/>
          </a:xfrm>
          <a:prstGeom prst="roundRect">
            <a:avLst>
              <a:gd name="adj" fmla="val 5406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290489"/>
            <a:ext cx="1879550" cy="0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711101" y="1492002"/>
            <a:ext cx="150271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1101" y="1838027"/>
            <a:ext cx="15027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Filters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1101" y="2091928"/>
            <a:ext cx="1473250" cy="162178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rows where ma_200 &gt; 5× close (split-adjustment bug)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spy_distance_from_200 &gt; 50% (calculation error)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rows with missing target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1101" y="3845421"/>
            <a:ext cx="1473250" cy="0"/>
          </a:xfrm>
          <a:prstGeom prst="line">
            <a:avLst/>
          </a:prstGeom>
          <a:noFill/>
          <a:ln w="9525">
            <a:solidFill>
              <a:srgbClr val="C6DED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711101" y="3951684"/>
            <a:ext cx="15027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415 bad rows removed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90651" y="1266676"/>
            <a:ext cx="1879699" cy="3597473"/>
          </a:xfrm>
          <a:prstGeom prst="roundRect">
            <a:avLst>
              <a:gd name="adj" fmla="val 5405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90651" y="1290489"/>
            <a:ext cx="1879699" cy="0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2793802" y="1492002"/>
            <a:ext cx="150286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93802" y="1838027"/>
            <a:ext cx="15028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93802" y="2091928"/>
            <a:ext cx="1473398" cy="201037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11 engine-score features (total_score, signal_strength…)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13 low-info columns (&gt;95% zeros/nulls)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9 correlated pairs (Spearman &gt;0.8)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encoded exchange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93802" y="4234011"/>
            <a:ext cx="1473398" cy="0"/>
          </a:xfrm>
          <a:prstGeom prst="line">
            <a:avLst/>
          </a:prstGeom>
          <a:noFill/>
          <a:ln w="9525">
            <a:solidFill>
              <a:srgbClr val="C6DED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2793802" y="4340275"/>
            <a:ext cx="1502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→ 53 features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73501" y="1266676"/>
            <a:ext cx="1879699" cy="3597473"/>
          </a:xfrm>
          <a:prstGeom prst="roundRect">
            <a:avLst>
              <a:gd name="adj" fmla="val 5405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73501" y="1290489"/>
            <a:ext cx="1879699" cy="0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4876651" y="1492002"/>
            <a:ext cx="150286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76651" y="1838027"/>
            <a:ext cx="15028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Imputation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76651" y="2091928"/>
            <a:ext cx="1473398" cy="111502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imputation for most numeric columns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 (iterative) for relative_strength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Null-indicator flags for above_long/fast_ma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76651" y="3338661"/>
            <a:ext cx="1473398" cy="0"/>
          </a:xfrm>
          <a:prstGeom prst="line">
            <a:avLst/>
          </a:prstGeom>
          <a:noFill/>
          <a:ln w="9525">
            <a:solidFill>
              <a:srgbClr val="C6DED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4876651" y="3444925"/>
            <a:ext cx="1502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nulls remaining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56350" y="1266676"/>
            <a:ext cx="1879699" cy="3597473"/>
          </a:xfrm>
          <a:prstGeom prst="roundRect">
            <a:avLst>
              <a:gd name="adj" fmla="val 5405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756350" y="1290489"/>
            <a:ext cx="1879699" cy="0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959501" y="1492002"/>
            <a:ext cx="150286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59501" y="1838027"/>
            <a:ext cx="15028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Treatment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59501" y="2091928"/>
            <a:ext cx="1473398" cy="150361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log1p transform: volume, ADR, close, ATR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log1p: MACD, OBV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Winsorize 1–99%: most indicators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[0,100]: RSI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59501" y="3727252"/>
            <a:ext cx="1473398" cy="0"/>
          </a:xfrm>
          <a:prstGeom prst="line">
            <a:avLst/>
          </a:prstGeom>
          <a:noFill/>
          <a:ln w="9525">
            <a:solidFill>
              <a:srgbClr val="C6DED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6959501" y="3833515"/>
            <a:ext cx="1502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Distributions normalized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376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34915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Features — Correlation with Target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310580"/>
            <a:ext cx="2952750" cy="1565672"/>
          </a:xfrm>
          <a:prstGeom prst="roundRect">
            <a:avLst>
              <a:gd name="adj" fmla="val 6489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1450181"/>
            <a:ext cx="2649295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651" y="1692027"/>
            <a:ext cx="2649295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column shows each feature's Spearman correlation with </a:t>
            </a: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gain_10pct_30d</a:t>
            </a: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(our target). The rest of the matrix shows inter-feature correlations.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651" y="2239714"/>
            <a:ext cx="2649295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inter-feature correlation (orange/red) = redundancy. We keep only the most predictive of a correlated pair.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3003203"/>
            <a:ext cx="2952750" cy="1600944"/>
          </a:xfrm>
          <a:prstGeom prst="roundRect">
            <a:avLst>
              <a:gd name="adj" fmla="val 6346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651" y="3142804"/>
            <a:ext cx="2649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651" y="3352354"/>
            <a:ext cx="2597348" cy="106144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6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(0.47)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strongest single predictor of a 10%+ gain.</a:t>
            </a:r>
            <a:endParaRPr lang="en-US" sz="900" dirty="0"/>
          </a:p>
          <a:p>
            <a:pPr marL="88900" indent="-88900" algn="l">
              <a:lnSpc>
                <a:spcPts val="126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atr_5 / atr_10 (0.98)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nearly identical, one was dropped.</a:t>
            </a:r>
            <a:endParaRPr lang="en-US" sz="900" dirty="0"/>
          </a:p>
          <a:p>
            <a:pPr marL="88900" indent="-88900" algn="l">
              <a:lnSpc>
                <a:spcPts val="126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breakout_detected / breakout_days_since (0.87)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redundant pair, one removed.</a:t>
            </a:r>
            <a:endParaRPr lang="en-US" sz="900" dirty="0"/>
          </a:p>
        </p:txBody>
      </p:sp>
      <p:pic>
        <p:nvPicPr>
          <p:cNvPr id="12" name="Image 0" descr="/Users/idaniel/Downloads/kairognos_ml_output/04_top15_cor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776" y="1115913"/>
            <a:ext cx="4698950" cy="36829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7326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79350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SPLITTING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46345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Time-Based Split — No Future Leakage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292126"/>
            <a:ext cx="76200" cy="784027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550" y="1292126"/>
            <a:ext cx="4102150" cy="784027"/>
          </a:xfrm>
          <a:prstGeom prst="roundRect">
            <a:avLst>
              <a:gd name="adj" fmla="val 9719"/>
            </a:avLst>
          </a:prstGeom>
          <a:solidFill>
            <a:srgbClr val="E8F5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251" y="1419076"/>
            <a:ext cx="38216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251" y="1590526"/>
            <a:ext cx="38216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353,691 rows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251" y="1815852"/>
            <a:ext cx="38216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2015 → Dec 2022 · 10.4% positive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126903"/>
            <a:ext cx="4330750" cy="164902"/>
          </a:xfrm>
          <a:prstGeom prst="roundRect">
            <a:avLst>
              <a:gd name="adj" fmla="val 30806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451" y="2152204"/>
            <a:ext cx="42103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embargo gap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7950" y="2342555"/>
            <a:ext cx="76200" cy="784027"/>
          </a:xfrm>
          <a:prstGeom prst="roundRect">
            <a:avLst>
              <a:gd name="adj" fmla="val 5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6550" y="2342555"/>
            <a:ext cx="4102150" cy="784027"/>
          </a:xfrm>
          <a:prstGeom prst="roundRect">
            <a:avLst>
              <a:gd name="adj" fmla="val 9719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251" y="2469505"/>
            <a:ext cx="38216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251" y="2640955"/>
            <a:ext cx="38216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54,787 rows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251" y="2866281"/>
            <a:ext cx="38216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2023 → Dec 2023 · 10.6% positive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3177332"/>
            <a:ext cx="4330750" cy="164902"/>
          </a:xfrm>
          <a:prstGeom prst="roundRect">
            <a:avLst>
              <a:gd name="adj" fmla="val 30806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9451" y="3202632"/>
            <a:ext cx="42103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embargo gap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7950" y="3392984"/>
            <a:ext cx="76200" cy="784027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6550" y="3392984"/>
            <a:ext cx="4102150" cy="784027"/>
          </a:xfrm>
          <a:prstGeom prst="roundRect">
            <a:avLst>
              <a:gd name="adj" fmla="val 971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14251" y="3519934"/>
            <a:ext cx="38216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(held out)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251" y="3691384"/>
            <a:ext cx="38216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141,575 rows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251" y="3916710"/>
            <a:ext cx="38216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2024 → Dec 2025 · 11.0% positive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92601" y="1292126"/>
            <a:ext cx="3543449" cy="1430982"/>
          </a:xfrm>
          <a:prstGeom prst="roundRect">
            <a:avLst>
              <a:gd name="adj" fmla="val 7100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95751" y="1469827"/>
            <a:ext cx="3199891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spcAft>
                <a:spcPts val="800"/>
              </a:spcAft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TIME-BASED?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95751" y="1746200"/>
            <a:ext cx="3199891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row's target is computed from a 30-day forward window. A random split would place the same stock's future in the training set — leaking tomorrow's prices into today's features.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92601" y="2875508"/>
            <a:ext cx="3543449" cy="653951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116413" y="2875508"/>
            <a:ext cx="0" cy="653951"/>
          </a:xfrm>
          <a:prstGeom prst="line">
            <a:avLst/>
          </a:prstGeom>
          <a:noFill/>
          <a:ln w="476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5317927" y="3002459"/>
            <a:ext cx="32032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B3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embargo gap prevents the 30-day forward window from crossing the split boundary and creating data leakage.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2275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— VALIDATION 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374600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Model Families Benchmarked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022747"/>
            <a:ext cx="2794248" cy="1318766"/>
          </a:xfrm>
          <a:prstGeom prst="roundRect">
            <a:avLst>
              <a:gd name="adj" fmla="val 7704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1101" y="1175147"/>
            <a:ext cx="2435706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11101" y="1426220"/>
            <a:ext cx="2435706" cy="699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ranking quality: given a random winner and a random loser, how often does the model rank the winner higher? </a:t>
            </a:r>
            <a:r>
              <a:rPr lang="en-US" sz="9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 = 89% of the time.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Threshold-independent.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7950" y="2468463"/>
            <a:ext cx="2794248" cy="1318766"/>
          </a:xfrm>
          <a:prstGeom prst="roundRect">
            <a:avLst>
              <a:gd name="adj" fmla="val 7704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1101" y="2620863"/>
            <a:ext cx="2435706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 (Average Precision)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1101" y="2871936"/>
            <a:ext cx="2435706" cy="699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Precision-Recall area under curve. More sensitive to imbalanced classes than ROC-AUC. </a:t>
            </a:r>
            <a:r>
              <a:rPr lang="en-US" sz="9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baseline rate is 10.9%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 0.47 is meaningful lift.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7950" y="3914180"/>
            <a:ext cx="2794248" cy="1028700"/>
          </a:xfrm>
          <a:prstGeom prst="roundRect">
            <a:avLst>
              <a:gd name="adj" fmla="val 9877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1101" y="4066580"/>
            <a:ext cx="243570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</a:t>
            </a: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LR, RF, and SVM all land within 0.01 of each other on ROC-AUC (~0.89). More model complexity doesn't help — the signal ceiling is the limiting factor.</a:t>
            </a:r>
            <a:endParaRPr lang="en-US" sz="9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3556099" y="999976"/>
          <a:ext cx="50799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1179" y="586532"/>
            <a:ext cx="10214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112550" y="846832"/>
            <a:ext cx="291890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800"/>
              </a:spcAft>
              <a:buNone/>
            </a:pPr>
            <a:r>
              <a:rPr lang="en-US" sz="26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Linear Ceiling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573857"/>
            <a:ext cx="2573834" cy="2202359"/>
          </a:xfrm>
          <a:prstGeom prst="roundRect">
            <a:avLst>
              <a:gd name="adj" fmla="val 5767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802457"/>
            <a:ext cx="2107353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1851" y="2094309"/>
            <a:ext cx="21073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converge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851" y="2395835"/>
            <a:ext cx="2107353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LR, RF, GBM, and SVM all land at ROC-AUC ~0.89. Adding complexity gives nothing — the signal in the data is largely linear.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84934" y="1573857"/>
            <a:ext cx="2573982" cy="2202359"/>
          </a:xfrm>
          <a:prstGeom prst="roundRect">
            <a:avLst>
              <a:gd name="adj" fmla="val 5767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38835" y="1802457"/>
            <a:ext cx="2107504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38835" y="2094309"/>
            <a:ext cx="21075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already capture non-linearity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38835" y="2595860"/>
            <a:ext cx="2107504" cy="951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Kairognos upstream pipeline already engineered most interactions. The model is learning to re-combine them — not discover new ones.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62067" y="1573857"/>
            <a:ext cx="2573982" cy="2202359"/>
          </a:xfrm>
          <a:prstGeom prst="roundRect">
            <a:avLst>
              <a:gd name="adj" fmla="val 5767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15968" y="1802457"/>
            <a:ext cx="2107504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15968" y="2094309"/>
            <a:ext cx="21075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ceiling is a feature problem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15968" y="2595860"/>
            <a:ext cx="2107504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break through 0.89 ROC-AUC, we need richer data (earnings, fundamentals, options flow) — not more sophisticated algorithms.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4030117"/>
            <a:ext cx="8128099" cy="526852"/>
          </a:xfrm>
          <a:prstGeom prst="roundRect">
            <a:avLst>
              <a:gd name="adj" fmla="val 19284"/>
            </a:avLst>
          </a:prstGeom>
          <a:solidFill>
            <a:srgbClr val="FCFC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7565" y="4207818"/>
            <a:ext cx="76688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 information, not model architecture.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376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34915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New Features Added — Did They Help?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949077"/>
            <a:ext cx="3937099" cy="1434852"/>
          </a:xfrm>
          <a:prstGeom prst="roundRect">
            <a:avLst>
              <a:gd name="adj" fmla="val 7081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1101" y="1101477"/>
            <a:ext cx="36014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 (5 new)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11101" y="1311027"/>
            <a:ext cx="3530798" cy="8697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× volume_ratio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volatility × surge</a:t>
            </a:r>
            <a:endParaRPr lang="en-US" sz="95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× ath_distance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volatility × distance from peak</a:t>
            </a:r>
            <a:endParaRPr lang="en-US" sz="95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 × adr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tightness × range</a:t>
            </a:r>
            <a:endParaRPr lang="en-US" sz="95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 / close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normalized daily range</a:t>
            </a:r>
            <a:endParaRPr lang="en-US" sz="95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/ avg_volume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relative volume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7950" y="2510879"/>
            <a:ext cx="3937099" cy="1200001"/>
          </a:xfrm>
          <a:prstGeom prst="roundRect">
            <a:avLst>
              <a:gd name="adj" fmla="val 8467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1101" y="2663279"/>
            <a:ext cx="36014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HISTORY (3 new)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1101" y="2872829"/>
            <a:ext cx="3530798" cy="63490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symbol_hist_pos_rate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stock's historical win rate (shifted 31d to prevent leakage)</a:t>
            </a:r>
            <a:endParaRPr lang="en-US" sz="95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symbol_adr_60d_mean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60-day rolling ADR</a:t>
            </a:r>
            <a:endParaRPr lang="en-US" sz="95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symbol_rsi_60d_mean</a:t>
            </a: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60-day rolling RSI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7950" y="3837831"/>
            <a:ext cx="3937099" cy="882551"/>
          </a:xfrm>
          <a:prstGeom prst="roundRect">
            <a:avLst>
              <a:gd name="adj" fmla="val 11512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1101" y="3990231"/>
            <a:ext cx="36014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+ TIME (6 new)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1101" y="4199781"/>
            <a:ext cx="3530798" cy="3174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5-day change in RSI, ADR, BB-width, consolidation range</a:t>
            </a:r>
            <a:endParaRPr lang="en-US" sz="950" dirty="0"/>
          </a:p>
          <a:p>
            <a:pPr marL="88900" indent="-88900" algn="l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Month, quarter, day-of-week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98950" y="949077"/>
            <a:ext cx="3937099" cy="2346127"/>
          </a:xfrm>
          <a:prstGeom prst="roundRect">
            <a:avLst>
              <a:gd name="adj" fmla="val 4331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902101" y="1455390"/>
            <a:ext cx="3530798" cy="0"/>
          </a:xfrm>
          <a:prstGeom prst="line">
            <a:avLst/>
          </a:prstGeom>
          <a:noFill/>
          <a:ln w="95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4902101" y="1222028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— baseline (val)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81651" y="1202978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02101" y="1788765"/>
            <a:ext cx="3530798" cy="0"/>
          </a:xfrm>
          <a:prstGeom prst="line">
            <a:avLst/>
          </a:prstGeom>
          <a:noFill/>
          <a:ln w="95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4902101" y="1555403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— engineered (test)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81651" y="1536353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16552" y="1555403"/>
            <a:ext cx="359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02101" y="2122140"/>
            <a:ext cx="3530798" cy="0"/>
          </a:xfrm>
          <a:prstGeom prst="line">
            <a:avLst/>
          </a:prstGeom>
          <a:noFill/>
          <a:ln w="95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4902101" y="1888778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 — baseline (val)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81651" y="1869728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02101" y="2455515"/>
            <a:ext cx="3530798" cy="0"/>
          </a:xfrm>
          <a:prstGeom prst="line">
            <a:avLst/>
          </a:prstGeom>
          <a:noFill/>
          <a:ln w="95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4902101" y="2222153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 — engineered (test)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81651" y="2203103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16552" y="2222153"/>
            <a:ext cx="359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02101" y="2788890"/>
            <a:ext cx="3530798" cy="0"/>
          </a:xfrm>
          <a:prstGeom prst="line">
            <a:avLst/>
          </a:prstGeom>
          <a:noFill/>
          <a:ln w="9525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4902101" y="2555528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— baseline (val)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81651" y="2536478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02101" y="2888903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— engineered (test)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81651" y="2869853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16552" y="2888903"/>
            <a:ext cx="359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+0.016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98950" y="3422154"/>
            <a:ext cx="3937099" cy="77852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722763" y="3422154"/>
            <a:ext cx="0" cy="778520"/>
          </a:xfrm>
          <a:prstGeom prst="line">
            <a:avLst/>
          </a:prstGeom>
          <a:noFill/>
          <a:ln w="476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4924276" y="3549104"/>
            <a:ext cx="3604754" cy="524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950" dirty="0">
                <a:solidFill>
                  <a:srgbClr val="6B3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gave a small but real improvement (+0.01 ROC-AUC). The ceiling is real — more features help marginally, but the fundamental signal limit stays around 0.90.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5452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61348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 RESULTS — 2024–2025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361801"/>
            <a:ext cx="61348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Model: Logistic Regression + Feature Engineering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84405" y="272951"/>
            <a:ext cx="1251645" cy="260152"/>
          </a:xfrm>
          <a:prstGeom prst="roundRect">
            <a:avLst>
              <a:gd name="adj" fmla="val 29291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36805" y="336352"/>
            <a:ext cx="9657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141,575 test rows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882402"/>
            <a:ext cx="2057549" cy="977801"/>
          </a:xfrm>
          <a:prstGeom prst="roundRect">
            <a:avLst>
              <a:gd name="adj" fmla="val 10391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2823" y="1009352"/>
            <a:ext cx="178780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2823" y="1371302"/>
            <a:ext cx="1787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2823" y="1523702"/>
            <a:ext cx="17878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5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winners above losers 90.1% of the time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667000" y="882402"/>
            <a:ext cx="2057549" cy="977801"/>
          </a:xfrm>
          <a:prstGeom prst="roundRect">
            <a:avLst>
              <a:gd name="adj" fmla="val 10391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01873" y="1009352"/>
            <a:ext cx="178780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01873" y="1371302"/>
            <a:ext cx="1787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01873" y="1523702"/>
            <a:ext cx="17878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5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4.3× above the 10.9% baseline (random = 0.109)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7950" y="1961704"/>
            <a:ext cx="1337816" cy="977801"/>
          </a:xfrm>
          <a:prstGeom prst="roundRect">
            <a:avLst>
              <a:gd name="adj" fmla="val 10391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0020" y="2088654"/>
            <a:ext cx="105367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0.467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0020" y="2450604"/>
            <a:ext cx="10536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0020" y="2603004"/>
            <a:ext cx="10536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 of flagged stocks actually hit +10%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947267" y="1961704"/>
            <a:ext cx="1337965" cy="977801"/>
          </a:xfrm>
          <a:prstGeom prst="roundRect">
            <a:avLst>
              <a:gd name="adj" fmla="val 10391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89336" y="2088654"/>
            <a:ext cx="105382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089336" y="2450604"/>
            <a:ext cx="10538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89336" y="2603004"/>
            <a:ext cx="10538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63% of all actual winners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86733" y="1961704"/>
            <a:ext cx="1337816" cy="977801"/>
          </a:xfrm>
          <a:prstGeom prst="roundRect">
            <a:avLst>
              <a:gd name="adj" fmla="val 10391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528803" y="2088654"/>
            <a:ext cx="105367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528803" y="2450604"/>
            <a:ext cx="10536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28803" y="2603004"/>
            <a:ext cx="10536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Harmonic mean of precision and recall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7950" y="3041005"/>
            <a:ext cx="4216598" cy="656183"/>
          </a:xfrm>
          <a:prstGeom prst="roundRect">
            <a:avLst>
              <a:gd name="adj" fmla="val 15484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60350" y="3142506"/>
            <a:ext cx="3990034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testing RF, GBM, KNN, and SVM — </a:t>
            </a: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with engineered features won.</a:t>
            </a: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Simple, interpretable, and generalizes best to the 2024–2025 test period.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53149" y="1520726"/>
            <a:ext cx="37565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CURVE — TEST SET 2024–2025</a:t>
            </a:r>
            <a:endParaRPr lang="en-US" sz="850" dirty="0"/>
          </a:p>
        </p:txBody>
      </p:sp>
      <p:pic>
        <p:nvPicPr>
          <p:cNvPr id="30" name="Image 0" descr="/Users/idaniel/Downloads/kairognos_ml_output/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149" y="1711226"/>
            <a:ext cx="3682901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376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34915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Learned — Top 10 Coefficients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070521"/>
            <a:ext cx="2921198" cy="1130052"/>
          </a:xfrm>
          <a:prstGeom prst="roundRect">
            <a:avLst>
              <a:gd name="adj" fmla="val 8991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1197471"/>
            <a:ext cx="26171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651" y="1433661"/>
            <a:ext cx="261711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standardized LR coefficients. </a:t>
            </a: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= pushes toward a win signal.</a:t>
            </a: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Negative = pushes against. Larger absolute value = stronger influence.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2327523"/>
            <a:ext cx="2921198" cy="2516684"/>
          </a:xfrm>
          <a:prstGeom prst="roundRect">
            <a:avLst>
              <a:gd name="adj" fmla="val 4037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651" y="2454473"/>
            <a:ext cx="2617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651" y="2664023"/>
            <a:ext cx="2565797" cy="200248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15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dominates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(+1.85) — stocks with large average daily ranges are most predictive of breakouts.</a:t>
            </a:r>
            <a:endParaRPr lang="en-US" sz="900" dirty="0"/>
          </a:p>
          <a:p>
            <a:pPr marL="88900" indent="-88900" algn="l">
              <a:lnSpc>
                <a:spcPts val="1215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 × ADR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(−1.65) — this interaction pushes against a win when both are high simultaneously.</a:t>
            </a:r>
            <a:endParaRPr lang="en-US" sz="900" dirty="0"/>
          </a:p>
          <a:p>
            <a:pPr marL="88900" indent="-88900" algn="l">
              <a:lnSpc>
                <a:spcPts val="1215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 tightness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(+1.35) — narrow range before the move is strongly predictive on its own.</a:t>
            </a:r>
            <a:endParaRPr lang="en-US" sz="900" dirty="0"/>
          </a:p>
          <a:p>
            <a:pPr marL="88900" indent="-88900" algn="l">
              <a:lnSpc>
                <a:spcPts val="1215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 listing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(−1.05) — NYSE-listed stocks are less likely to hit the target than OTC/ARCA.</a:t>
            </a:r>
            <a:endParaRPr lang="en-US" sz="900" dirty="0"/>
          </a:p>
        </p:txBody>
      </p:sp>
      <p:pic>
        <p:nvPicPr>
          <p:cNvPr id="11" name="Image 0" descr="/Users/idaniel/Downloads/kairognos_ml_output/09_feature_importance_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50" y="923776"/>
            <a:ext cx="4953000" cy="3174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376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34915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0.90 — What It Really Means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923776"/>
            <a:ext cx="3937099" cy="1618357"/>
          </a:xfrm>
          <a:prstGeom prst="roundRect">
            <a:avLst>
              <a:gd name="adj" fmla="val 7847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7301" y="1428155"/>
            <a:ext cx="121018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202359" y="1152376"/>
            <a:ext cx="2002607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any random winner and any random non-winner from the test set, the model correctly ranks the winner higher </a:t>
            </a:r>
            <a:r>
              <a:rPr lang="en-US" sz="1000" b="1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of the time</a:t>
            </a:r>
            <a:r>
              <a:rPr lang="en-US" sz="100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02359" y="1989981"/>
            <a:ext cx="2002607" cy="32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THRESHOLD-INDEPENDENT METRIC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7950" y="2669084"/>
            <a:ext cx="3937099" cy="1339155"/>
          </a:xfrm>
          <a:prstGeom prst="roundRect">
            <a:avLst>
              <a:gd name="adj" fmla="val 7587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6550" y="2846784"/>
            <a:ext cx="3549497" cy="98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</a:t>
            </a:r>
            <a:r>
              <a:rPr lang="en-US" sz="10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Imagine drawing one stock that actually gained 10%+ and one that didn't. ROC-AUC = 0.90 means our model assigns the winner a higher probability score 9 out of 10 times. It doesn't depend on which threshold you use to decide "buy or skip."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98950" y="923776"/>
            <a:ext cx="3937099" cy="1668512"/>
          </a:xfrm>
          <a:prstGeom prst="roundRect">
            <a:avLst>
              <a:gd name="adj" fmla="val 6089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2101" y="1076176"/>
            <a:ext cx="3601414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0.90 MEANS IN CONTEXT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02101" y="1327249"/>
            <a:ext cx="3601414" cy="524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random guesser scores 0.50. A perfect model scores 1.00. At 0.90, we're capturing strong, real signal — well above chance, well below perfect.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02101" y="1915269"/>
            <a:ext cx="3601414" cy="524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between 0.90 and 1.00 reflects the inherent unpredictability of markets. Some outcomes are simply unknowable from technical data alone.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98950" y="2719239"/>
            <a:ext cx="1227683" cy="866775"/>
          </a:xfrm>
          <a:prstGeom prst="roundRect">
            <a:avLst>
              <a:gd name="adj" fmla="val 11722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67928" y="2871639"/>
            <a:ext cx="88972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67928" y="3205014"/>
            <a:ext cx="8897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baseline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53584" y="2719239"/>
            <a:ext cx="1227832" cy="866775"/>
          </a:xfrm>
          <a:prstGeom prst="roundRect">
            <a:avLst>
              <a:gd name="adj" fmla="val 11722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22560" y="2871639"/>
            <a:ext cx="8898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22560" y="3205014"/>
            <a:ext cx="8898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model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408366" y="2719239"/>
            <a:ext cx="1227683" cy="866775"/>
          </a:xfrm>
          <a:prstGeom prst="roundRect">
            <a:avLst>
              <a:gd name="adj" fmla="val 11722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77344" y="2871639"/>
            <a:ext cx="88972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77344" y="3205014"/>
            <a:ext cx="8897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(impossible)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98950" y="3712964"/>
            <a:ext cx="3937099" cy="1080492"/>
          </a:xfrm>
          <a:prstGeom prst="roundRect">
            <a:avLst>
              <a:gd name="adj" fmla="val 9403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02101" y="3865364"/>
            <a:ext cx="3601414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METRIC FIRST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02101" y="4116437"/>
            <a:ext cx="3601414" cy="524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is reported first because it evaluates the model's ranking ability across all thresholds. It tells us the signal is real before we decide how aggressively to act on it.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376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34915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an Operating Point — Precision vs. Recall Trade-Off</a:t>
            </a:r>
            <a:endParaRPr lang="en-US" sz="2000" dirty="0"/>
          </a:p>
        </p:txBody>
      </p:sp>
      <p:pic>
        <p:nvPicPr>
          <p:cNvPr id="5" name="Image 0" descr="/Users/idaniel/Downloads/kairognos_ml_output/10_threshold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1242864"/>
            <a:ext cx="546095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2802" y="1407765"/>
            <a:ext cx="2413248" cy="1277243"/>
          </a:xfrm>
          <a:prstGeom prst="roundRect">
            <a:avLst>
              <a:gd name="adj" fmla="val 7955"/>
            </a:avLst>
          </a:prstGeom>
          <a:solidFill>
            <a:srgbClr val="F0F7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00502" y="1534716"/>
            <a:ext cx="20990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502" y="1758107"/>
            <a:ext cx="2099003" cy="799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classification threshold rises, the model becomes more selective — Precision climbs but Recall falls. F1-Score peaks where the two are best balanced.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22802" y="2811959"/>
            <a:ext cx="2413248" cy="1695004"/>
          </a:xfrm>
          <a:prstGeom prst="roundRect">
            <a:avLst>
              <a:gd name="adj" fmla="val 5994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400502" y="2938909"/>
            <a:ext cx="20990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CHOICE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502" y="3148459"/>
            <a:ext cx="2057846" cy="11808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215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threshold 0.76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Precision 0.467, Recall 0.628, F1 0.536.</a:t>
            </a:r>
            <a:endParaRPr lang="en-US" sz="900" dirty="0"/>
          </a:p>
          <a:p>
            <a:pPr marL="88900" indent="-88900" algn="l">
              <a:lnSpc>
                <a:spcPts val="1215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threshold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fewer but higher-quality signals. Right choice when false positives are costly.</a:t>
            </a:r>
            <a:endParaRPr lang="en-US" sz="900" dirty="0"/>
          </a:p>
          <a:p>
            <a:pPr marL="88900" indent="-88900" algn="l">
              <a:lnSpc>
                <a:spcPts val="1215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threshold</a:t>
            </a: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more coverage, but more noise in the flagged list.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4187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00" dirty="0">
                <a:solidFill>
                  <a:srgbClr val="6B9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50" y="676721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0"/>
              </a:spcAft>
              <a:buNone/>
            </a:pPr>
            <a:r>
              <a:rPr lang="en-US" sz="2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— and Where We Go Next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1254472"/>
            <a:ext cx="1917650" cy="1606153"/>
          </a:xfrm>
          <a:prstGeom prst="roundRect">
            <a:avLst>
              <a:gd name="adj" fmla="val 7907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432173"/>
            <a:ext cx="15415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1101" y="1787723"/>
            <a:ext cx="1541577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2"/>
              </a:lnSpc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1101" y="2020342"/>
            <a:ext cx="1541577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winners above non-winners 90% of the time on unseen 2024–2025 data.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78001" y="1254472"/>
            <a:ext cx="1917799" cy="1606153"/>
          </a:xfrm>
          <a:prstGeom prst="roundRect">
            <a:avLst>
              <a:gd name="adj" fmla="val 7907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81151" y="1432173"/>
            <a:ext cx="15417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81151" y="1787723"/>
            <a:ext cx="1541728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2"/>
              </a:lnSpc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OVER RANDOM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81151" y="2020342"/>
            <a:ext cx="1541728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 of 0.474 vs. 0.109 baseline — the model is 4× better than a random scan.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48200" y="1254472"/>
            <a:ext cx="1917650" cy="1606153"/>
          </a:xfrm>
          <a:prstGeom prst="roundRect">
            <a:avLst>
              <a:gd name="adj" fmla="val 7907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51350" y="1432173"/>
            <a:ext cx="15415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51350" y="1787723"/>
            <a:ext cx="1541577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2"/>
              </a:lnSpc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51350" y="2020342"/>
            <a:ext cx="1541577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default threshold, nearly 1 in 2 flagged stocks actually reaches +10% in 30 days.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18250" y="1254472"/>
            <a:ext cx="1917799" cy="1606153"/>
          </a:xfrm>
          <a:prstGeom prst="roundRect">
            <a:avLst>
              <a:gd name="adj" fmla="val 7907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21401" y="1432173"/>
            <a:ext cx="15417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21401" y="1787723"/>
            <a:ext cx="1541728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2"/>
              </a:lnSpc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A7C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MODEL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21401" y="2020342"/>
            <a:ext cx="1541728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C4D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beat RF, GBM, SVM, Cascade, and Stacking. Simple wins.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950" y="3063776"/>
            <a:ext cx="4694039" cy="1637854"/>
          </a:xfrm>
          <a:prstGeom prst="roundRect">
            <a:avLst>
              <a:gd name="adj" fmla="val 7754"/>
            </a:avLst>
          </a:prstGeom>
          <a:solidFill>
            <a:srgbClr val="FCFC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6550" y="3241477"/>
            <a:ext cx="43215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TO BREAK THE 0.90 CEILING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6550" y="3476327"/>
            <a:ext cx="4236839" cy="9968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&amp; fundamentals</a:t>
            </a:r>
            <a:r>
              <a:rPr lang="en-US" sz="9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add EPS surprises, revenue growth, P/E ratios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flow</a:t>
            </a:r>
            <a:r>
              <a:rPr lang="en-US" sz="9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unusual call volume is a leading indicator of breakouts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&amp; macro context</a:t>
            </a:r>
            <a:r>
              <a:rPr lang="en-US" sz="9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market regime features (VIX, sector rotation)</a:t>
            </a:r>
            <a:endParaRPr lang="en-US" sz="950" dirty="0"/>
          </a:p>
          <a:p>
            <a:pPr marL="88900" indent="-88900" algn="l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signal pipeline</a:t>
            </a:r>
            <a:r>
              <a:rPr lang="en-US" sz="95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move from batch to daily automated scoring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54389" y="3063776"/>
            <a:ext cx="3281660" cy="1637854"/>
          </a:xfrm>
          <a:prstGeom prst="roundRect">
            <a:avLst>
              <a:gd name="adj" fmla="val 7754"/>
            </a:avLst>
          </a:prstGeom>
          <a:solidFill>
            <a:srgbClr val="6EE7B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54745" y="3673078"/>
            <a:ext cx="28809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 data richness, not model complexity. The foundation is solid.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1750</Words>
  <Application>Microsoft Macintosh PowerPoint</Application>
  <PresentationFormat>On-screen Show (16:9)</PresentationFormat>
  <Paragraphs>231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Kairognos ML — Predicting Stock Gains (v2)</dc:title>
  <dc:subject>PptxGenJS Presentation</dc:subject>
  <dc:creator>Kairognos</dc:creator>
  <cp:lastModifiedBy>Daniel Zavulunov</cp:lastModifiedBy>
  <cp:revision>3</cp:revision>
  <dcterms:created xsi:type="dcterms:W3CDTF">2026-05-12T17:01:10Z</dcterms:created>
  <dcterms:modified xsi:type="dcterms:W3CDTF">2026-05-12T17:06:56Z</dcterms:modified>
</cp:coreProperties>
</file>